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621B5-1D24-4732-A057-1FA0A471A965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B358-770E-4661-B83D-EC0443DE3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39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B358-770E-4661-B83D-EC0443DE324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11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80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3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9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1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84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25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705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84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83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16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608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ED75C-D144-4B50-BB71-EFE1E850C86F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7AFFC51-D151-494C-8BEE-6E1481E4B9A2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84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oks stacked on a table">
            <a:extLst>
              <a:ext uri="{FF2B5EF4-FFF2-40B4-BE49-F238E27FC236}">
                <a16:creationId xmlns:a16="http://schemas.microsoft.com/office/drawing/2014/main" id="{9C710B86-4E47-C132-BB00-1434E8CC9C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0" r="9090"/>
          <a:stretch>
            <a:fillRect/>
          </a:stretch>
        </p:blipFill>
        <p:spPr>
          <a:xfrm>
            <a:off x="-3178" y="-5837"/>
            <a:ext cx="12191695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B058F3D-AE82-4E63-B8C1-1CCE39989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8" y="636753"/>
            <a:ext cx="8299435" cy="5572810"/>
          </a:xfrm>
          <a:prstGeom prst="rect">
            <a:avLst/>
          </a:prstGeom>
          <a:solidFill>
            <a:srgbClr val="000001">
              <a:alpha val="74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FBBFD-A9F0-502F-81B1-C08A00064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716" y="871376"/>
            <a:ext cx="6718031" cy="88276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E"/>
                </a:solidFill>
              </a:rPr>
              <a:t>Overview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C4AA24-BE70-468C-9687-86AEE1D5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5828" y="798973"/>
            <a:ext cx="0" cy="105216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CB3D071-60DA-CF86-1A34-FC6D8A0F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2" y="1851140"/>
            <a:ext cx="8218715" cy="491977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1300" dirty="0">
                <a:solidFill>
                  <a:srgbClr val="FFFFFE"/>
                </a:solidFill>
              </a:rPr>
              <a:t>This project demonstrates the development of a Library Management System using SQL to efficiently organize and analyse library data.</a:t>
            </a:r>
          </a:p>
          <a:p>
            <a:pPr marL="0" indent="0">
              <a:lnSpc>
                <a:spcPct val="110000"/>
              </a:lnSpc>
              <a:buNone/>
            </a:pPr>
            <a:endParaRPr lang="en-GB" sz="1300" dirty="0">
              <a:solidFill>
                <a:srgbClr val="FFFFFE"/>
              </a:solidFill>
            </a:endParaRP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Created and managed normalized tables for books, members, employees,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300" dirty="0">
                <a:solidFill>
                  <a:srgbClr val="FFFFFE"/>
                </a:solidFill>
              </a:rPr>
              <a:t>        and transactions.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 Performed CRUD operations to simulate real-world library database </a:t>
            </a:r>
            <a:r>
              <a:rPr lang="en-IN" sz="1300" dirty="0">
                <a:solidFill>
                  <a:srgbClr val="FFFFFE"/>
                </a:solidFill>
              </a:rPr>
              <a:t>workflows.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Applied </a:t>
            </a:r>
            <a:r>
              <a:rPr lang="en-GB" sz="1300" b="1" dirty="0">
                <a:solidFill>
                  <a:srgbClr val="FFFFFE"/>
                </a:solidFill>
              </a:rPr>
              <a:t>JOIN</a:t>
            </a:r>
            <a:r>
              <a:rPr lang="en-GB" sz="1300" dirty="0">
                <a:solidFill>
                  <a:srgbClr val="FFFFFE"/>
                </a:solidFill>
              </a:rPr>
              <a:t>, </a:t>
            </a:r>
            <a:r>
              <a:rPr lang="en-GB" sz="1300" b="1" dirty="0">
                <a:solidFill>
                  <a:srgbClr val="FFFFFE"/>
                </a:solidFill>
              </a:rPr>
              <a:t>GROUP BY</a:t>
            </a:r>
            <a:r>
              <a:rPr lang="en-GB" sz="1300" dirty="0">
                <a:solidFill>
                  <a:srgbClr val="FFFFFE"/>
                </a:solidFill>
              </a:rPr>
              <a:t>, and </a:t>
            </a:r>
            <a:r>
              <a:rPr lang="en-GB" sz="1300" b="1" dirty="0">
                <a:solidFill>
                  <a:srgbClr val="FFFFFE"/>
                </a:solidFill>
              </a:rPr>
              <a:t>HAVING </a:t>
            </a:r>
            <a:r>
              <a:rPr lang="en-GB" sz="1300" dirty="0">
                <a:solidFill>
                  <a:srgbClr val="FFFFFE"/>
                </a:solidFill>
              </a:rPr>
              <a:t>clauses for advanced data retrieval.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 Built summary tables using </a:t>
            </a:r>
            <a:r>
              <a:rPr lang="en-GB" sz="1300" b="1" dirty="0">
                <a:solidFill>
                  <a:srgbClr val="FFFFFE"/>
                </a:solidFill>
              </a:rPr>
              <a:t>CTAS </a:t>
            </a:r>
            <a:r>
              <a:rPr lang="en-GB" sz="1300" dirty="0">
                <a:solidFill>
                  <a:srgbClr val="FFFFFE"/>
                </a:solidFill>
              </a:rPr>
              <a:t>for tracking book issue frequency and rental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sz="1300" dirty="0">
                <a:solidFill>
                  <a:srgbClr val="FFFFFE"/>
                </a:solidFill>
              </a:rPr>
              <a:t>        </a:t>
            </a:r>
            <a:r>
              <a:rPr lang="en-IN" sz="1300" dirty="0">
                <a:solidFill>
                  <a:srgbClr val="FFFFFE"/>
                </a:solidFill>
              </a:rPr>
              <a:t>performance.</a:t>
            </a:r>
          </a:p>
          <a:p>
            <a:pPr>
              <a:lnSpc>
                <a:spcPct val="110000"/>
              </a:lnSpc>
            </a:pPr>
            <a:r>
              <a:rPr lang="en-GB" sz="1300" dirty="0">
                <a:solidFill>
                  <a:srgbClr val="FFFFFE"/>
                </a:solidFill>
              </a:rPr>
              <a:t> Showcases understanding of </a:t>
            </a:r>
            <a:r>
              <a:rPr lang="en-GB" sz="1300" b="1" dirty="0">
                <a:solidFill>
                  <a:srgbClr val="FFFFFE"/>
                </a:solidFill>
              </a:rPr>
              <a:t>database design</a:t>
            </a:r>
            <a:r>
              <a:rPr lang="en-GB" sz="1300" dirty="0">
                <a:solidFill>
                  <a:srgbClr val="FFFFFE"/>
                </a:solidFill>
              </a:rPr>
              <a:t>, </a:t>
            </a:r>
            <a:r>
              <a:rPr lang="en-GB" sz="1300" b="1" dirty="0">
                <a:solidFill>
                  <a:srgbClr val="FFFFFE"/>
                </a:solidFill>
              </a:rPr>
              <a:t>data manipulation</a:t>
            </a:r>
            <a:r>
              <a:rPr lang="en-GB" sz="1300" dirty="0">
                <a:solidFill>
                  <a:srgbClr val="FFFFFE"/>
                </a:solidFill>
              </a:rPr>
              <a:t>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300" dirty="0">
                <a:solidFill>
                  <a:srgbClr val="FFFFFE"/>
                </a:solidFill>
              </a:rPr>
              <a:t>        and </a:t>
            </a:r>
            <a:r>
              <a:rPr lang="en-IN" sz="1300" b="1" dirty="0">
                <a:solidFill>
                  <a:srgbClr val="FFFFFE"/>
                </a:solidFill>
              </a:rPr>
              <a:t>query optimization</a:t>
            </a:r>
            <a:r>
              <a:rPr lang="en-IN" sz="1300" dirty="0">
                <a:solidFill>
                  <a:srgbClr val="FFFFF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38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07CA-2F3B-F926-67E1-395DB6F5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55373"/>
            <a:ext cx="2536372" cy="1164770"/>
          </a:xfrm>
          <a:prstGeom prst="ellipse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kern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Project </a:t>
            </a:r>
            <a:br>
              <a:rPr lang="en-US" sz="2800" kern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2800" kern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    Schema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2D40A5-F938-4529-2DC7-5F270AC3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32"/>
          <a:stretch>
            <a:fillRect/>
          </a:stretch>
        </p:blipFill>
        <p:spPr>
          <a:xfrm>
            <a:off x="2709601" y="482060"/>
            <a:ext cx="9253799" cy="589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4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FF9DC-880A-564F-D973-9F3235BE6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559822"/>
            <a:ext cx="7772400" cy="60099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7725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EA677C-FB06-8BEF-0F49-357808D72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1143" y="643467"/>
            <a:ext cx="6150714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0181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6EAA5C-EC44-FE32-15B4-D6D9FFCD4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4771" y="288485"/>
            <a:ext cx="7326086" cy="61685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415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FBFA-C559-B9C1-9CFA-9F0B24EB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7144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/>
              <a:t>                        </a:t>
            </a:r>
            <a:r>
              <a:rPr lang="en-IN" i="1" dirty="0">
                <a:solidFill>
                  <a:schemeClr val="accent3">
                    <a:lumMod val="75000"/>
                  </a:schemeClr>
                </a:solidFill>
              </a:rPr>
              <a:t>Crud Operations</a:t>
            </a:r>
            <a:br>
              <a:rPr lang="en-IN" i="1" dirty="0"/>
            </a:br>
            <a:br>
              <a:rPr lang="en-IN" dirty="0"/>
            </a:br>
            <a:r>
              <a:rPr lang="en-GB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Create</a:t>
            </a:r>
            <a:r>
              <a:rPr lang="en-GB" sz="2800" dirty="0"/>
              <a:t>: Inserted sample records into the books table.</a:t>
            </a:r>
            <a:br>
              <a:rPr lang="en-GB" sz="2800" dirty="0"/>
            </a:br>
            <a:r>
              <a:rPr lang="en-GB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Read</a:t>
            </a:r>
            <a:r>
              <a:rPr lang="en-GB" sz="2800" dirty="0"/>
              <a:t>: Retrieved and displayed data from various tables.</a:t>
            </a:r>
            <a:br>
              <a:rPr lang="en-GB" sz="2800" dirty="0"/>
            </a:br>
            <a:r>
              <a:rPr lang="en-GB" sz="2800" dirty="0"/>
              <a:t> </a:t>
            </a:r>
            <a:r>
              <a:rPr lang="en-GB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Update</a:t>
            </a:r>
            <a:r>
              <a:rPr lang="en-GB" sz="2800" dirty="0"/>
              <a:t>: Updated records in the Employees table.</a:t>
            </a:r>
            <a:br>
              <a:rPr lang="en-GB" sz="2800" dirty="0"/>
            </a:br>
            <a:r>
              <a:rPr lang="en-GB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Delete</a:t>
            </a:r>
            <a:r>
              <a:rPr lang="en-GB" sz="2800" dirty="0"/>
              <a:t>: Removed records from the members table as needed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79A29D-2D62-C837-B309-5C7A2897B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165" y="4687100"/>
            <a:ext cx="11203669" cy="1898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65BA4F-9311-A3B1-862C-943C9F402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89" y="4298715"/>
            <a:ext cx="3360711" cy="30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0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EA89C-D13D-93AF-B661-CEA7477BE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871" y="347678"/>
            <a:ext cx="8741229" cy="594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15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7D0D21-1BD8-4C6D-248C-4D0F43F20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42" b="-2"/>
          <a:stretch>
            <a:fillRect/>
          </a:stretch>
        </p:blipFill>
        <p:spPr>
          <a:xfrm>
            <a:off x="699270" y="490147"/>
            <a:ext cx="10488660" cy="511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429EA-5979-217C-0447-14BA311D0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191" y="753675"/>
            <a:ext cx="9075330" cy="286153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F37F3F-C28D-E512-9E11-183345D2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906" y="2625822"/>
            <a:ext cx="4285615" cy="3996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A8798A-A772-E910-D5A2-7A1337839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85" y="762196"/>
            <a:ext cx="1211685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363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97514D-ACC4-37F2-D6A8-DF10E3A86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5" y="92610"/>
            <a:ext cx="10668000" cy="45447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D72E34-99FD-A379-C39F-7E08BAF52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20" y="2742508"/>
            <a:ext cx="6637595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6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02D7E-28AF-554D-F7E9-C9B073CD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69" y="377123"/>
            <a:ext cx="7645004" cy="1908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FDB062-B6A9-FADC-D8F5-A94B4C44D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769" y="2714890"/>
            <a:ext cx="10038462" cy="33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27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FAC8C30-93FA-4F99-80C4-C952D83A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ACDE2A-6BC1-4786-87B1-F7DA3535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2CC8B5-9886-4AFA-BE09-6178A4ED3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55706DD-A589-F800-F447-E0A2C0CE4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16" y="758167"/>
            <a:ext cx="5159675" cy="46050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B799A3-0C0C-AE27-711F-6FEEB21B5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150" y="1045029"/>
            <a:ext cx="5522383" cy="37828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9252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F99641-2064-F910-9201-316230D8D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90" y="380316"/>
            <a:ext cx="11427234" cy="4496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BAC589-FFE0-EAF6-9B2E-2D2E89A97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566" y="2628557"/>
            <a:ext cx="6512958" cy="327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3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3B752D-7702-0EFB-BAAC-0463896A2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37" y="402772"/>
            <a:ext cx="9545806" cy="2917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DEF81-CE17-EA40-1361-AF2D789C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63" y="3429001"/>
            <a:ext cx="11431079" cy="265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55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DAF515-7A57-2EEA-B16F-9E5853AAE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33" y="190948"/>
            <a:ext cx="7964253" cy="2871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9298F5-7B0D-F3C6-3E0C-A2DA9F829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379" y="3189515"/>
            <a:ext cx="10199184" cy="314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28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3279-5CC0-69F7-D02F-9E342ED8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-251461"/>
            <a:ext cx="10602686" cy="160019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 Light" panose="020B00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3E5ED-3E2A-B995-4A93-8BCEB6B9B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626" y="1348740"/>
            <a:ext cx="11235690" cy="4960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400" b="1" dirty="0">
                <a:latin typeface="Aptos Light" panose="020B0004020202020204" pitchFamily="34" charset="0"/>
              </a:rPr>
              <a:t>This  project  highlights  the  use  of  SQL  for               efficient  library  database management. It  demonstrates  capabilities  in  data  handling, advanced  </a:t>
            </a:r>
            <a:r>
              <a:rPr lang="en-GB" sz="4400" dirty="0">
                <a:latin typeface="Aptos Light" panose="020B0004020202020204" pitchFamily="34" charset="0"/>
              </a:rPr>
              <a:t>querying</a:t>
            </a:r>
            <a:r>
              <a:rPr lang="en-GB" sz="4400" b="1" dirty="0">
                <a:latin typeface="Aptos Light" panose="020B0004020202020204" pitchFamily="34" charset="0"/>
              </a:rPr>
              <a:t>,  and  analytical  reporting,  strengthening  the foundation  for  data  analysis  and  relational  database  design.</a:t>
            </a:r>
            <a:endParaRPr lang="en-IN" sz="4400" b="1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4824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</TotalTime>
  <Words>187</Words>
  <Application>Microsoft Office PowerPoint</Application>
  <PresentationFormat>Widescreen</PresentationFormat>
  <Paragraphs>16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Light</vt:lpstr>
      <vt:lpstr>Arial</vt:lpstr>
      <vt:lpstr>Palatino Linotype</vt:lpstr>
      <vt:lpstr>Wingdings</vt:lpstr>
      <vt:lpstr>Gallery</vt:lpstr>
      <vt:lpstr>Overview</vt:lpstr>
      <vt:lpstr>Project       Schema</vt:lpstr>
      <vt:lpstr>PowerPoint Presentation</vt:lpstr>
      <vt:lpstr>PowerPoint Presentation</vt:lpstr>
      <vt:lpstr>PowerPoint Presentation</vt:lpstr>
      <vt:lpstr>                        Crud Operations  Create: Inserted sample records into the books table.  Read: Retrieved and displayed data from various tables.  Update: Updated records in the Employees table.  Delete: Removed records from the members table as needed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sheikh</dc:creator>
  <cp:lastModifiedBy>sana sheikh</cp:lastModifiedBy>
  <cp:revision>1</cp:revision>
  <dcterms:created xsi:type="dcterms:W3CDTF">2025-11-05T15:05:42Z</dcterms:created>
  <dcterms:modified xsi:type="dcterms:W3CDTF">2025-11-05T16:27:34Z</dcterms:modified>
</cp:coreProperties>
</file>
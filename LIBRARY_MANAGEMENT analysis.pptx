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8" r:id="rId10"/>
    <p:sldId id="269" r:id="rId11"/>
    <p:sldId id="270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8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D621B5-1D24-4732-A057-1FA0A471A965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8B358-770E-4661-B83D-EC0443DE3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393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B358-770E-4661-B83D-EC0443DE324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113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D75C-D144-4B50-BB71-EFE1E850C86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80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D75C-D144-4B50-BB71-EFE1E850C86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3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D75C-D144-4B50-BB71-EFE1E850C86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91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D75C-D144-4B50-BB71-EFE1E850C86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615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D75C-D144-4B50-BB71-EFE1E850C86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845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D75C-D144-4B50-BB71-EFE1E850C86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259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D75C-D144-4B50-BB71-EFE1E850C86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705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D75C-D144-4B50-BB71-EFE1E850C86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848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65DED75C-D144-4B50-BB71-EFE1E850C86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183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D75C-D144-4B50-BB71-EFE1E850C86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166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D75C-D144-4B50-BB71-EFE1E850C86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608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ED75C-D144-4B50-BB71-EFE1E850C86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84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ooks stacked on a table">
            <a:extLst>
              <a:ext uri="{FF2B5EF4-FFF2-40B4-BE49-F238E27FC236}">
                <a16:creationId xmlns:a16="http://schemas.microsoft.com/office/drawing/2014/main" id="{9C710B86-4E47-C132-BB00-1434E8CC9C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390" r="9090"/>
          <a:stretch>
            <a:fillRect/>
          </a:stretch>
        </p:blipFill>
        <p:spPr>
          <a:xfrm>
            <a:off x="-3178" y="-5837"/>
            <a:ext cx="12191695" cy="685799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8B058F3D-AE82-4E63-B8C1-1CCE39989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8" y="636753"/>
            <a:ext cx="8299435" cy="5572810"/>
          </a:xfrm>
          <a:prstGeom prst="rect">
            <a:avLst/>
          </a:prstGeom>
          <a:solidFill>
            <a:srgbClr val="000001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6FBBFD-A9F0-502F-81B1-C08A00064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716" y="871376"/>
            <a:ext cx="6718031" cy="88276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E"/>
                </a:solidFill>
              </a:rPr>
              <a:t>Overview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DC4AA24-BE70-468C-9687-86AEE1D52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5828" y="798973"/>
            <a:ext cx="0" cy="105216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CB3D071-60DA-CF86-1A34-FC6D8A0FF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2" y="1851140"/>
            <a:ext cx="8218715" cy="491977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1300" dirty="0">
                <a:solidFill>
                  <a:srgbClr val="FFFFFE"/>
                </a:solidFill>
              </a:rPr>
              <a:t>This project demonstrates the development of a Library Management System using SQL to efficiently organize and analyse library data.</a:t>
            </a:r>
          </a:p>
          <a:p>
            <a:pPr marL="0" indent="0">
              <a:lnSpc>
                <a:spcPct val="110000"/>
              </a:lnSpc>
              <a:buNone/>
            </a:pPr>
            <a:endParaRPr lang="en-GB" sz="1300" dirty="0">
              <a:solidFill>
                <a:srgbClr val="FFFFFE"/>
              </a:solidFill>
            </a:endParaRPr>
          </a:p>
          <a:p>
            <a:pPr>
              <a:lnSpc>
                <a:spcPct val="110000"/>
              </a:lnSpc>
            </a:pPr>
            <a:r>
              <a:rPr lang="en-GB" sz="1300" dirty="0">
                <a:solidFill>
                  <a:srgbClr val="FFFFFE"/>
                </a:solidFill>
              </a:rPr>
              <a:t>Created and managed normalized tables for books, members, employees,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300" dirty="0">
                <a:solidFill>
                  <a:srgbClr val="FFFFFE"/>
                </a:solidFill>
              </a:rPr>
              <a:t>        and transactions.</a:t>
            </a:r>
          </a:p>
          <a:p>
            <a:pPr>
              <a:lnSpc>
                <a:spcPct val="110000"/>
              </a:lnSpc>
            </a:pPr>
            <a:r>
              <a:rPr lang="en-GB" sz="1300" dirty="0">
                <a:solidFill>
                  <a:srgbClr val="FFFFFE"/>
                </a:solidFill>
              </a:rPr>
              <a:t> Performed CRUD operations to simulate real-world library database </a:t>
            </a:r>
            <a:r>
              <a:rPr lang="en-IN" sz="1300" dirty="0">
                <a:solidFill>
                  <a:srgbClr val="FFFFFE"/>
                </a:solidFill>
              </a:rPr>
              <a:t>workflows.</a:t>
            </a:r>
          </a:p>
          <a:p>
            <a:pPr>
              <a:lnSpc>
                <a:spcPct val="110000"/>
              </a:lnSpc>
            </a:pPr>
            <a:r>
              <a:rPr lang="en-GB" sz="1300" dirty="0">
                <a:solidFill>
                  <a:srgbClr val="FFFFFE"/>
                </a:solidFill>
              </a:rPr>
              <a:t>Applied </a:t>
            </a:r>
            <a:r>
              <a:rPr lang="en-GB" sz="1300" b="1" dirty="0">
                <a:solidFill>
                  <a:srgbClr val="FFFFFE"/>
                </a:solidFill>
              </a:rPr>
              <a:t>JOIN</a:t>
            </a:r>
            <a:r>
              <a:rPr lang="en-GB" sz="1300" dirty="0">
                <a:solidFill>
                  <a:srgbClr val="FFFFFE"/>
                </a:solidFill>
              </a:rPr>
              <a:t>, </a:t>
            </a:r>
            <a:r>
              <a:rPr lang="en-GB" sz="1300" b="1" dirty="0">
                <a:solidFill>
                  <a:srgbClr val="FFFFFE"/>
                </a:solidFill>
              </a:rPr>
              <a:t>GROUP BY</a:t>
            </a:r>
            <a:r>
              <a:rPr lang="en-GB" sz="1300" dirty="0">
                <a:solidFill>
                  <a:srgbClr val="FFFFFE"/>
                </a:solidFill>
              </a:rPr>
              <a:t>, and </a:t>
            </a:r>
            <a:r>
              <a:rPr lang="en-GB" sz="1300" b="1" dirty="0">
                <a:solidFill>
                  <a:srgbClr val="FFFFFE"/>
                </a:solidFill>
              </a:rPr>
              <a:t>HAVING </a:t>
            </a:r>
            <a:r>
              <a:rPr lang="en-GB" sz="1300" dirty="0">
                <a:solidFill>
                  <a:srgbClr val="FFFFFE"/>
                </a:solidFill>
              </a:rPr>
              <a:t>clauses for advanced data retrieval.</a:t>
            </a:r>
          </a:p>
          <a:p>
            <a:pPr>
              <a:lnSpc>
                <a:spcPct val="110000"/>
              </a:lnSpc>
            </a:pPr>
            <a:r>
              <a:rPr lang="en-GB" sz="1300" dirty="0">
                <a:solidFill>
                  <a:srgbClr val="FFFFFE"/>
                </a:solidFill>
              </a:rPr>
              <a:t> Built summary tables using </a:t>
            </a:r>
            <a:r>
              <a:rPr lang="en-GB" sz="1300" b="1" dirty="0">
                <a:solidFill>
                  <a:srgbClr val="FFFFFE"/>
                </a:solidFill>
              </a:rPr>
              <a:t>CTAS </a:t>
            </a:r>
            <a:r>
              <a:rPr lang="en-GB" sz="1300" dirty="0">
                <a:solidFill>
                  <a:srgbClr val="FFFFFE"/>
                </a:solidFill>
              </a:rPr>
              <a:t>for tracking book issue frequency and rental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1300" dirty="0">
                <a:solidFill>
                  <a:srgbClr val="FFFFFE"/>
                </a:solidFill>
              </a:rPr>
              <a:t>        </a:t>
            </a:r>
            <a:r>
              <a:rPr lang="en-IN" sz="1300" dirty="0">
                <a:solidFill>
                  <a:srgbClr val="FFFFFE"/>
                </a:solidFill>
              </a:rPr>
              <a:t>performance.</a:t>
            </a:r>
          </a:p>
          <a:p>
            <a:pPr>
              <a:lnSpc>
                <a:spcPct val="110000"/>
              </a:lnSpc>
            </a:pPr>
            <a:r>
              <a:rPr lang="en-GB" sz="1300" dirty="0">
                <a:solidFill>
                  <a:srgbClr val="FFFFFE"/>
                </a:solidFill>
              </a:rPr>
              <a:t> Showcases understanding of </a:t>
            </a:r>
            <a:r>
              <a:rPr lang="en-GB" sz="1300" b="1" dirty="0">
                <a:solidFill>
                  <a:srgbClr val="FFFFFE"/>
                </a:solidFill>
              </a:rPr>
              <a:t>database design</a:t>
            </a:r>
            <a:r>
              <a:rPr lang="en-GB" sz="1300" dirty="0">
                <a:solidFill>
                  <a:srgbClr val="FFFFFE"/>
                </a:solidFill>
              </a:rPr>
              <a:t>, </a:t>
            </a:r>
            <a:r>
              <a:rPr lang="en-GB" sz="1300" b="1" dirty="0">
                <a:solidFill>
                  <a:srgbClr val="FFFFFE"/>
                </a:solidFill>
              </a:rPr>
              <a:t>data manipulation</a:t>
            </a:r>
            <a:r>
              <a:rPr lang="en-GB" sz="1300" dirty="0">
                <a:solidFill>
                  <a:srgbClr val="FFFFFE"/>
                </a:solidFill>
              </a:rPr>
              <a:t>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300" dirty="0">
                <a:solidFill>
                  <a:srgbClr val="FFFFFE"/>
                </a:solidFill>
              </a:rPr>
              <a:t>        and </a:t>
            </a:r>
            <a:r>
              <a:rPr lang="en-IN" sz="1300" b="1" dirty="0">
                <a:solidFill>
                  <a:srgbClr val="FFFFFE"/>
                </a:solidFill>
              </a:rPr>
              <a:t>query optimization</a:t>
            </a:r>
            <a:r>
              <a:rPr lang="en-IN" sz="1300" dirty="0">
                <a:solidFill>
                  <a:srgbClr val="FFFFFE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0384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07CA-2F3B-F926-67E1-395DB6F5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55373"/>
            <a:ext cx="2536372" cy="1164770"/>
          </a:xfrm>
          <a:prstGeom prst="ellipse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kern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Project </a:t>
            </a:r>
            <a:br>
              <a:rPr lang="en-US" sz="2800" kern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     Schema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2D40A5-F938-4529-2DC7-5F270AC35B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32"/>
          <a:stretch>
            <a:fillRect/>
          </a:stretch>
        </p:blipFill>
        <p:spPr>
          <a:xfrm>
            <a:off x="2709601" y="482060"/>
            <a:ext cx="9253799" cy="589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949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9FF9DC-880A-564F-D973-9F3235BE69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800" y="559822"/>
            <a:ext cx="7772400" cy="60099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77258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EA677C-FB06-8BEF-0F49-357808D727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1143" y="643467"/>
            <a:ext cx="6150714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0181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6EAA5C-EC44-FE32-15B4-D6D9FFCD46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4771" y="288485"/>
            <a:ext cx="7326086" cy="616859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4151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2EA89C-D13D-93AF-B661-CEA7477BED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3871" y="347678"/>
            <a:ext cx="8741229" cy="59449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4618D6-5A43-FF17-72EA-8ADDE729F9A5}"/>
              </a:ext>
            </a:extLst>
          </p:cNvPr>
          <p:cNvSpPr txBox="1"/>
          <p:nvPr/>
        </p:nvSpPr>
        <p:spPr>
          <a:xfrm>
            <a:off x="2035629" y="849086"/>
            <a:ext cx="283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B704EF-05C4-5044-CA97-3AF255736A2E}"/>
              </a:ext>
            </a:extLst>
          </p:cNvPr>
          <p:cNvSpPr/>
          <p:nvPr/>
        </p:nvSpPr>
        <p:spPr>
          <a:xfrm>
            <a:off x="3352800" y="522513"/>
            <a:ext cx="206829" cy="2503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:</a:t>
            </a:r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202EBB-0630-48B4-2DC5-86D9CC29C33D}"/>
              </a:ext>
            </a:extLst>
          </p:cNvPr>
          <p:cNvSpPr/>
          <p:nvPr/>
        </p:nvSpPr>
        <p:spPr>
          <a:xfrm>
            <a:off x="3352800" y="3124531"/>
            <a:ext cx="206829" cy="2503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C88800"/>
                </a:solidFill>
              </a:rPr>
              <a:t>2</a:t>
            </a:r>
            <a:endParaRPr lang="en-IN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51F8CC-1A26-260C-7032-1E1CAC56820E}"/>
              </a:ext>
            </a:extLst>
          </p:cNvPr>
          <p:cNvSpPr/>
          <p:nvPr/>
        </p:nvSpPr>
        <p:spPr>
          <a:xfrm>
            <a:off x="2705099" y="1360714"/>
            <a:ext cx="206829" cy="2503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DD3394-1BB7-0174-2D98-25ABCE7FE548}"/>
              </a:ext>
            </a:extLst>
          </p:cNvPr>
          <p:cNvSpPr/>
          <p:nvPr/>
        </p:nvSpPr>
        <p:spPr>
          <a:xfrm>
            <a:off x="3352800" y="3124530"/>
            <a:ext cx="206829" cy="2503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:</a:t>
            </a:r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4AD372-6429-4BDD-9FC7-A84D2F96C34C}"/>
              </a:ext>
            </a:extLst>
          </p:cNvPr>
          <p:cNvSpPr/>
          <p:nvPr/>
        </p:nvSpPr>
        <p:spPr>
          <a:xfrm>
            <a:off x="2481941" y="3973286"/>
            <a:ext cx="206829" cy="2503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59815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7D0D21-1BD8-4C6D-248C-4D0F43F203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642" b="-2"/>
          <a:stretch>
            <a:fillRect/>
          </a:stretch>
        </p:blipFill>
        <p:spPr>
          <a:xfrm>
            <a:off x="742814" y="522804"/>
            <a:ext cx="10488660" cy="51147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ABB75D-35A5-D1D0-1950-F2619D37934E}"/>
              </a:ext>
            </a:extLst>
          </p:cNvPr>
          <p:cNvSpPr/>
          <p:nvPr/>
        </p:nvSpPr>
        <p:spPr>
          <a:xfrm>
            <a:off x="3614057" y="966748"/>
            <a:ext cx="326572" cy="5727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rgbClr val="C88800"/>
                </a:solidFill>
              </a:rPr>
              <a:t>3</a:t>
            </a:r>
            <a:endParaRPr lang="en-IN" sz="24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F80D4F-4CAE-228E-5E16-0B408B4E54A3}"/>
              </a:ext>
            </a:extLst>
          </p:cNvPr>
          <p:cNvSpPr/>
          <p:nvPr/>
        </p:nvSpPr>
        <p:spPr>
          <a:xfrm>
            <a:off x="3614057" y="1105541"/>
            <a:ext cx="326572" cy="295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:</a:t>
            </a:r>
            <a:endParaRPr lang="en-IN" sz="28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C4C784-5455-662E-96C8-AECC62134193}"/>
              </a:ext>
            </a:extLst>
          </p:cNvPr>
          <p:cNvSpPr/>
          <p:nvPr/>
        </p:nvSpPr>
        <p:spPr>
          <a:xfrm>
            <a:off x="2492828" y="2242457"/>
            <a:ext cx="272143" cy="2939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7477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1429EA-5979-217C-0447-14BA311D0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191" y="753675"/>
            <a:ext cx="9075330" cy="2861536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4F37F3F-C28D-E512-9E11-183345D25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906" y="2625822"/>
            <a:ext cx="4285615" cy="39964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A8798A-A772-E910-D5A2-7A1337839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385" y="762196"/>
            <a:ext cx="1211685" cy="3200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0D5A356-176B-1EE4-76F9-FDB1F512D69B}"/>
              </a:ext>
            </a:extLst>
          </p:cNvPr>
          <p:cNvSpPr/>
          <p:nvPr/>
        </p:nvSpPr>
        <p:spPr>
          <a:xfrm>
            <a:off x="3592285" y="847356"/>
            <a:ext cx="206829" cy="2503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C88800"/>
                </a:solidFill>
              </a:rPr>
              <a:t>4</a:t>
            </a:r>
            <a:endParaRPr lang="en-IN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A0A0E0-D863-2001-EA68-F0862299EDCD}"/>
              </a:ext>
            </a:extLst>
          </p:cNvPr>
          <p:cNvSpPr/>
          <p:nvPr/>
        </p:nvSpPr>
        <p:spPr>
          <a:xfrm>
            <a:off x="3526969" y="849743"/>
            <a:ext cx="206829" cy="2503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:</a:t>
            </a:r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09DEE5-301F-7E64-D5F7-88DD55CBD606}"/>
              </a:ext>
            </a:extLst>
          </p:cNvPr>
          <p:cNvSpPr/>
          <p:nvPr/>
        </p:nvSpPr>
        <p:spPr>
          <a:xfrm>
            <a:off x="2634343" y="1730828"/>
            <a:ext cx="206829" cy="2503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70363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FAC8C30-93FA-4F99-80C4-C952D83A4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3ACDE2A-6BC1-4786-87B1-F7DA35351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A2CC8B5-9886-4AFA-BE09-6178A4ED3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55706DD-A589-F800-F447-E0A2C0CE4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16" y="758167"/>
            <a:ext cx="5159675" cy="46050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B799A3-0C0C-AE27-711F-6FEEB21B5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150" y="1045029"/>
            <a:ext cx="5522383" cy="37828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A5745CB-BBF8-573A-5A59-350205B8DD57}"/>
              </a:ext>
            </a:extLst>
          </p:cNvPr>
          <p:cNvSpPr/>
          <p:nvPr/>
        </p:nvSpPr>
        <p:spPr>
          <a:xfrm>
            <a:off x="7130143" y="1138448"/>
            <a:ext cx="206829" cy="2503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:</a:t>
            </a:r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DE7437-BC50-3FEC-5A9D-268768991D51}"/>
              </a:ext>
            </a:extLst>
          </p:cNvPr>
          <p:cNvSpPr/>
          <p:nvPr/>
        </p:nvSpPr>
        <p:spPr>
          <a:xfrm>
            <a:off x="7004957" y="1912413"/>
            <a:ext cx="206829" cy="2503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19252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F99641-2064-F910-9201-316230D8D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90" y="380316"/>
            <a:ext cx="11427234" cy="4496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BAC589-FFE0-EAF6-9B2E-2D2E89A97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566" y="2628557"/>
            <a:ext cx="6512958" cy="327645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0C38D96-A907-7694-7C50-0194A78854B6}"/>
              </a:ext>
            </a:extLst>
          </p:cNvPr>
          <p:cNvSpPr/>
          <p:nvPr/>
        </p:nvSpPr>
        <p:spPr>
          <a:xfrm>
            <a:off x="3135087" y="522513"/>
            <a:ext cx="206829" cy="2503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:</a:t>
            </a:r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6BD372-F59B-1809-BF0D-ED9340BCD73A}"/>
              </a:ext>
            </a:extLst>
          </p:cNvPr>
          <p:cNvSpPr/>
          <p:nvPr/>
        </p:nvSpPr>
        <p:spPr>
          <a:xfrm>
            <a:off x="1621971" y="1872342"/>
            <a:ext cx="228600" cy="2612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86736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3B752D-7702-0EFB-BAAC-0463896A2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05" y="293914"/>
            <a:ext cx="9901996" cy="30262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7DEF81-CE17-EA40-1361-AF2D789C1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63" y="3429001"/>
            <a:ext cx="11431079" cy="26561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7B7817-6A0B-2E5A-4013-DC4879E63DAC}"/>
              </a:ext>
            </a:extLst>
          </p:cNvPr>
          <p:cNvSpPr/>
          <p:nvPr/>
        </p:nvSpPr>
        <p:spPr>
          <a:xfrm>
            <a:off x="3080656" y="293914"/>
            <a:ext cx="391887" cy="2503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:</a:t>
            </a:r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78AC86-B1CB-BFAE-45A0-577A03234007}"/>
              </a:ext>
            </a:extLst>
          </p:cNvPr>
          <p:cNvSpPr/>
          <p:nvPr/>
        </p:nvSpPr>
        <p:spPr>
          <a:xfrm>
            <a:off x="1741714" y="1436914"/>
            <a:ext cx="326572" cy="2503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64255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3279-5CC0-69F7-D02F-9E342ED8A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7" y="-251461"/>
            <a:ext cx="10602686" cy="1600199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ptos Light" panose="020B00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3E5ED-3E2A-B995-4A93-8BCEB6B9B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626" y="1348740"/>
            <a:ext cx="11235690" cy="49606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400" b="1" dirty="0">
                <a:latin typeface="Aptos Light" panose="020B0004020202020204" pitchFamily="34" charset="0"/>
              </a:rPr>
              <a:t>This  project  highlights  the  use  of  SQL  for               efficient  library  database management. It  demonstrates  capabilities  in  data  handling, advanced querying ,  and  analytical  reporting,  strengthening  the foundation  for  data  analysis  and  relational  database  design.</a:t>
            </a:r>
            <a:endParaRPr lang="en-IN" sz="4400" b="1" dirty="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94824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104</TotalTime>
  <Words>147</Words>
  <Application>Microsoft Office PowerPoint</Application>
  <PresentationFormat>Widescreen</PresentationFormat>
  <Paragraphs>25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Light</vt:lpstr>
      <vt:lpstr>Arial</vt:lpstr>
      <vt:lpstr>Palatino Linotype</vt:lpstr>
      <vt:lpstr>Gallery</vt:lpstr>
      <vt:lpstr>Overview</vt:lpstr>
      <vt:lpstr>Project       Schema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 sheikh</dc:creator>
  <cp:lastModifiedBy>sana sheikh</cp:lastModifiedBy>
  <cp:revision>2</cp:revision>
  <dcterms:created xsi:type="dcterms:W3CDTF">2025-11-05T15:05:42Z</dcterms:created>
  <dcterms:modified xsi:type="dcterms:W3CDTF">2025-11-11T17:55:39Z</dcterms:modified>
</cp:coreProperties>
</file>